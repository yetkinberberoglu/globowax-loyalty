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10"/>
  </p:normalViewPr>
  <p:slideViewPr>
    <p:cSldViewPr snapToGrid="0" snapToObjects="1">
      <p:cViewPr>
        <p:scale>
          <a:sx n="67" d="100"/>
          <a:sy n="67" d="100"/>
        </p:scale>
        <p:origin x="128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F5F5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F4F5F5"/>
                </a:solidFill>
                <a:latin typeface="Arial"/>
              </a:rPr>
              <a:t>450 active customers, with a 10% rise in return visits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Extra Visits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4F5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loyalty program</c:v>
                </c:pt>
                <c:pt idx="1">
                  <c:v>With loyalty program (example)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2C-48AB-942A-FAD1656BB6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0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0C0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C0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0C0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0C0C"/>
                </a:solidFill>
                <a:latin typeface="Arial"/>
              </a:rPr>
              <a:t>Monthly cost vs. estimated extra monthly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(€)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4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35-41E6-B6E0-2A54552A55FF}"/>
              </c:ext>
            </c:extLst>
          </c:dPt>
          <c:dPt>
            <c:idx val="1"/>
            <c:invertIfNegative val="0"/>
            <c:bubble3D val="0"/>
            <c:spPr>
              <a:solidFill>
                <a:srgbClr val="1F8F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35-41E6-B6E0-2A54552A55F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B0C0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Operating Cost
(hosting + support)</c:v>
                </c:pt>
                <c:pt idx="1">
                  <c:v>Estimated Extra Revenue
(example scenario)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35-41E6-B6E0-2A54552A55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1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2FBF7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7191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GLOBOWAX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System and Globowax Club Loyalty Program — Partner Presentation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760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tickets to a digital system: a structure running in real use today.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come once and leave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most never come 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226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8F52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5–25</a:t>
            </a:r>
            <a:r>
              <a:rPr lang="en-US" sz="4000" b="1" dirty="0">
                <a:solidFill>
                  <a:srgbClr val="1F8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expensive it can be to win a new customer than to retain an existing 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983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Review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8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%25–95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749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increase a 5% rise in customer retention can create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983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F8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49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we've had, until now, tracking customer loyalty and visit history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powerful parts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7191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1719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and Operations App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114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step from vehicle intake to delivery, and takes payment (cash / card / split).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7191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rgbClr val="17191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8368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Globowax Club Loyalty Platform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4114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manages points, gift cards, campaigns, and customer messaging in the background.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turns one-time customers into regulars, without adding work for staff.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 DIGITAL —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instead of a paper ticket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phone, plate, service — now entered into a searchable system, not a piece of paper.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783080"/>
            <a:ext cx="4846320" cy="3380994"/>
          </a:xfrm>
          <a:prstGeom prst="roundRect">
            <a:avLst>
              <a:gd name="adj" fmla="val 2164"/>
            </a:avLst>
          </a:prstGeom>
          <a:solidFill>
            <a:srgbClr val="0F1011"/>
          </a:solidFill>
          <a:ln w="12700">
            <a:solidFill>
              <a:srgbClr val="2A2D2E"/>
            </a:solidFill>
            <a:prstDash val="solid"/>
          </a:ln>
          <a:effectLst>
            <a:outerShdw blurRad="1778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94176" y="1897380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3877056" y="1897380"/>
            <a:ext cx="82296" cy="822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Shape 6"/>
          <p:cNvSpPr/>
          <p:nvPr/>
        </p:nvSpPr>
        <p:spPr>
          <a:xfrm>
            <a:off x="4059936" y="1897380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783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app.globowaxmalta.com — New Vehicle Check-In</a:t>
            </a:r>
            <a:endParaRPr lang="en-US" sz="1000" dirty="0"/>
          </a:p>
        </p:txBody>
      </p:sp>
      <p:pic>
        <p:nvPicPr>
          <p:cNvPr id="10" name="Image 0" descr="/home/claude/deck/screenshots/04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2148840"/>
            <a:ext cx="4736592" cy="29603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2103120"/>
            <a:ext cx="457200" cy="4572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2" name="Image 1" descr="/home/claude/deck/icons/check_2FBF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2128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09828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validated with country code — blocks incomplete or incorrect data entry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3291840"/>
            <a:ext cx="457200" cy="4572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5" name="Image 2" descr="/home/claude/deck/icons/check_2FBF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34015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category and service selection from a standard list — no handwriting to decipher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503920" y="4480560"/>
            <a:ext cx="457200" cy="4572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8" name="Image 3" descr="/home/claude/deck/icons/check_2FBF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5902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98280" y="4480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lands in the system instantly, updating both operations and customer history at once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 DIGITAL —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vehicle, at a glance, on one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paper board can't show: how long each vehicle has been waiting, and whether it's overdue.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79192" y="1920240"/>
            <a:ext cx="6825082" cy="4617720"/>
          </a:xfrm>
          <a:prstGeom prst="roundRect">
            <a:avLst>
              <a:gd name="adj" fmla="val 1584"/>
            </a:avLst>
          </a:prstGeom>
          <a:solidFill>
            <a:srgbClr val="0F1011"/>
          </a:solidFill>
          <a:ln w="12700">
            <a:solidFill>
              <a:srgbClr val="2A2D2E"/>
            </a:solidFill>
            <a:prstDash val="solid"/>
          </a:ln>
          <a:effectLst>
            <a:outerShdw blurRad="1778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07208" y="2034540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2990088" y="2034540"/>
            <a:ext cx="82296" cy="822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Shape 6"/>
          <p:cNvSpPr/>
          <p:nvPr/>
        </p:nvSpPr>
        <p:spPr>
          <a:xfrm>
            <a:off x="3172968" y="2034540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79192" y="1920240"/>
            <a:ext cx="6825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app.globowaxmalta.com — Operations Board</a:t>
            </a:r>
            <a:endParaRPr lang="en-US" sz="1000" dirty="0"/>
          </a:p>
        </p:txBody>
      </p:sp>
      <p:pic>
        <p:nvPicPr>
          <p:cNvPr id="10" name="Image 0" descr="/home/claude/deck/screenshots/02_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56" y="2286000"/>
            <a:ext cx="6715354" cy="41970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 DIGITAL —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detail, reachable in seconds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how many times a customer visited, or how much they spent, is no longer flipping through a notebook.</a:t>
            </a:r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7AD8-5E3A-844A-2157-6E5BD26C4A61}"/>
              </a:ext>
            </a:extLst>
          </p:cNvPr>
          <p:cNvGrpSpPr/>
          <p:nvPr/>
        </p:nvGrpSpPr>
        <p:grpSpPr>
          <a:xfrm>
            <a:off x="3368421" y="1957959"/>
            <a:ext cx="448056" cy="82296"/>
            <a:chOff x="768096" y="1988820"/>
            <a:chExt cx="448056" cy="82296"/>
          </a:xfrm>
        </p:grpSpPr>
        <p:sp>
          <p:nvSpPr>
            <p:cNvPr id="6" name="Shape 4"/>
            <p:cNvSpPr/>
            <p:nvPr/>
          </p:nvSpPr>
          <p:spPr>
            <a:xfrm>
              <a:off x="768096" y="1988820"/>
              <a:ext cx="82296" cy="82296"/>
            </a:xfrm>
            <a:prstGeom prst="ellipse">
              <a:avLst/>
            </a:prstGeom>
            <a:solidFill>
              <a:srgbClr val="E5484D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950976" y="1988820"/>
              <a:ext cx="82296" cy="82296"/>
            </a:xfrm>
            <a:prstGeom prst="ellipse">
              <a:avLst/>
            </a:prstGeom>
            <a:solidFill>
              <a:srgbClr val="F5A524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133856" y="1988820"/>
              <a:ext cx="82296" cy="82296"/>
            </a:xfrm>
            <a:prstGeom prst="ellipse">
              <a:avLst/>
            </a:prstGeom>
            <a:solidFill>
              <a:srgbClr val="2FBF71"/>
            </a:solidFill>
            <a:ln/>
          </p:spPr>
        </p:sp>
      </p:grpSp>
      <p:sp>
        <p:nvSpPr>
          <p:cNvPr id="9" name="Text 7"/>
          <p:cNvSpPr txBox="1"/>
          <p:nvPr/>
        </p:nvSpPr>
        <p:spPr>
          <a:xfrm>
            <a:off x="2364105" y="1843659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app.globowaxmalta.com — Customer List</a:t>
            </a:r>
            <a:endParaRPr lang="en-US" sz="1000" dirty="0"/>
          </a:p>
        </p:txBody>
      </p:sp>
      <p:pic>
        <p:nvPicPr>
          <p:cNvPr id="10" name="Image 0" descr="/home/claude/deck/screenshots/03_customers.png"/>
          <p:cNvPicPr>
            <a:picLocks noChangeAspect="1"/>
          </p:cNvPicPr>
          <p:nvPr/>
        </p:nvPicPr>
        <p:blipFill rotWithShape="1">
          <a:blip r:embed="rId3"/>
          <a:srcRect l="29416" t="15132" r="30532" b="15727"/>
          <a:stretch/>
        </p:blipFill>
        <p:spPr>
          <a:xfrm>
            <a:off x="3184779" y="2148840"/>
            <a:ext cx="4165854" cy="449464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441" y="963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 DIGITAL —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384441" y="224955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loyalty program, in one panel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84441" y="809707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revenue, points earned/redeemed, customer tiers — all at a glance.</a:t>
            </a:r>
            <a:endParaRPr lang="en-US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3AA809-399E-5085-AAAA-EBE22321D8CD}"/>
              </a:ext>
            </a:extLst>
          </p:cNvPr>
          <p:cNvGrpSpPr/>
          <p:nvPr/>
        </p:nvGrpSpPr>
        <p:grpSpPr>
          <a:xfrm>
            <a:off x="828675" y="1406961"/>
            <a:ext cx="10572750" cy="5053069"/>
            <a:chOff x="299093" y="2089516"/>
            <a:chExt cx="9634563" cy="4288536"/>
          </a:xfrm>
        </p:grpSpPr>
        <p:sp>
          <p:nvSpPr>
            <p:cNvPr id="9" name="Text 7"/>
            <p:cNvSpPr txBox="1"/>
            <p:nvPr/>
          </p:nvSpPr>
          <p:spPr>
            <a:xfrm>
              <a:off x="299093" y="3325460"/>
              <a:ext cx="2434503" cy="370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AA0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loyalty.globowaxmalta.com/admin — Dashboard</a:t>
              </a:r>
              <a:endParaRPr lang="en-US" sz="1000" dirty="0"/>
            </a:p>
          </p:txBody>
        </p:sp>
        <p:pic>
          <p:nvPicPr>
            <p:cNvPr id="10" name="Image 0" descr="/home/claude/deck/screenshots/cropped_06_club_dashboa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3596" y="2089516"/>
              <a:ext cx="7200060" cy="4288536"/>
            </a:xfrm>
            <a:prstGeom prst="rect">
              <a:avLst/>
            </a:prstGeom>
          </p:spPr>
        </p:pic>
      </p:grpSp>
      <p:sp>
        <p:nvSpPr>
          <p:cNvPr id="11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earns without doing anything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85900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/icons/car_1F8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10" y="25749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28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their car washed as usual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63824" y="25603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56532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deck/icons/coins_1F8F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042" y="25749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234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Earns automatically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the spend is added to their account as points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934456" y="25603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027164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deck/icons/phone_1F8F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674" y="25749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9409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181344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anytime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181344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 needed, just their phone number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05088" y="25603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797796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deck/icons/gift_1F8F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5306" y="257495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36472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951976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Redeems, returns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951976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points as a discount on their next visit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· No app to download · No sign-up required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744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28238" y="781812"/>
            <a:ext cx="52986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and gift cards, right on the payment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82794" y="2042355"/>
            <a:ext cx="623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apply points or a gift card from the same screen, without switching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33014" y="4819423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3142456" y="4819423"/>
            <a:ext cx="82296" cy="822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Shape 6"/>
          <p:cNvSpPr/>
          <p:nvPr/>
        </p:nvSpPr>
        <p:spPr>
          <a:xfrm>
            <a:off x="3334018" y="4819423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-99554" y="36450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app.globowaxmalta.com — Payment Screen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97ACE8-6BCF-1061-F3F7-2FF6CA3CA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768" y="74129"/>
            <a:ext cx="4448152" cy="6709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BUSINESS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operational 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5" name="Image 0" descr="/home/claude/deck/icons/clipboard_2FB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Single-screen management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payment, points, and gift card redemption all on one screen.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685800" cy="6858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9" name="Image 1" descr="/home/claude/deck/icons/chart_2FBF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9339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reporting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2194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revenue, past days, customer list — no manual tracking.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685800" cy="6858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3" name="Image 2" descr="/home/claude/deck/icons/bullhorn_2FBF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0507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campaigns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inactive for 30 days automatically get bonus points.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840480"/>
            <a:ext cx="685800" cy="68580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7" name="Image 3" descr="/home/claude/deck/icons/sync_2FBF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00507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extra workload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just do their usual job — points are processed automatically.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CUSTOMER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frictionless experience for the customer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/icons/ban_1F8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card or app needed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tracked by phone number.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deck/icons/coins_1F8F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9339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points on every visit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2194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the spend, with no action required.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deck/icons/phone_1F8F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0507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check anytime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it up at loyalty.globowaxmalta.com with their phone number.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deck/icons/gift_1F8F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00507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redemption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as a cash discount, plus a gift card can be used separately.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scenario: the revenue impact of retention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below are an illustrative example scenario, not a measured result.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903971811"/>
              </p:ext>
            </p:extLst>
          </p:nvPr>
        </p:nvGraphicFramePr>
        <p:xfrm>
          <a:off x="640080" y="196596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39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(real)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return rate (example)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3924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45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4655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visits / month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1056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€45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178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818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€2000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892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extra monthly revenue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C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running the system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76199870"/>
              </p:ext>
            </p:extLst>
          </p:nvPr>
        </p:nvGraphicFramePr>
        <p:xfrm>
          <a:off x="640080" y="18288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(database)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784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€0–25 / mo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228600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(hosting, 2 sites)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€0–40 / mo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283464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78408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€1.5 / mo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33832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(live integration)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€20–50 / mo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393192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€30–90 / mo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should move to this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5" name="Image 0" descr="/home/claude/deck/icons/check_2FB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1323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11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system running in real use today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8" name="Image 1" descr="/home/claude/deck/icons/check_2FB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092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971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used to be on paper is now searchable, reportable data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1" name="Image 2" descr="/home/claude/deck/icons/check_2FB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05262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31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zero effort from the customer, automates loyalty entirely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7191A"/>
          </a:solidFill>
          <a:ln/>
        </p:spPr>
      </p:sp>
      <p:pic>
        <p:nvPicPr>
          <p:cNvPr id="14" name="Image 3" descr="/home/claude/deck/icons/check_2FBF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501274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running cost, with potential return many times over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2FBF71">
              <a:alpha val="12000"/>
            </a:srgbClr>
          </a:solidFill>
          <a:ln/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5AC27-9301-CD9A-1062-F10A22766510}"/>
              </a:ext>
            </a:extLst>
          </p:cNvPr>
          <p:cNvGrpSpPr/>
          <p:nvPr/>
        </p:nvGrpSpPr>
        <p:grpSpPr>
          <a:xfrm>
            <a:off x="5305425" y="457581"/>
            <a:ext cx="914400" cy="914400"/>
            <a:chOff x="5181600" y="1243584"/>
            <a:chExt cx="914400" cy="914400"/>
          </a:xfrm>
        </p:grpSpPr>
        <p:sp>
          <p:nvSpPr>
            <p:cNvPr id="3" name="Shape 1"/>
            <p:cNvSpPr/>
            <p:nvPr/>
          </p:nvSpPr>
          <p:spPr>
            <a:xfrm>
              <a:off x="5181600" y="1243584"/>
              <a:ext cx="914400" cy="914400"/>
            </a:xfrm>
            <a:prstGeom prst="ellipse">
              <a:avLst/>
            </a:prstGeom>
            <a:solidFill>
              <a:srgbClr val="17191A"/>
            </a:solidFill>
            <a:ln/>
          </p:spPr>
        </p:sp>
        <p:pic>
          <p:nvPicPr>
            <p:cNvPr id="4" name="Image 0" descr="/home/claude/deck/icons/smile_2FBF7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1056" y="1463040"/>
              <a:ext cx="475488" cy="475488"/>
            </a:xfrm>
            <a:prstGeom prst="rect">
              <a:avLst/>
            </a:prstGeom>
          </p:spPr>
        </p:pic>
      </p:grpSp>
      <p:sp>
        <p:nvSpPr>
          <p:cNvPr id="5" name="Text 2"/>
          <p:cNvSpPr txBox="1"/>
          <p:nvPr/>
        </p:nvSpPr>
        <p:spPr>
          <a:xfrm>
            <a:off x="777240" y="1819275"/>
            <a:ext cx="10698480" cy="391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this integrated Carwash Management and the CRM </a:t>
            </a:r>
            <a:r>
              <a:rPr lang="en-US" sz="4000" b="1" dirty="0" err="1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sz="4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</a:t>
            </a:r>
          </a:p>
          <a:p>
            <a:pPr marL="0" indent="0" algn="ctr">
              <a:buNone/>
            </a:pPr>
            <a:r>
              <a:rPr lang="en-US" sz="4000" b="1" dirty="0" err="1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Globowax</a:t>
            </a:r>
            <a:r>
              <a:rPr lang="en-US" sz="4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4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one of a kind professional Carwash &amp; Detailing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loyalty.globowaxmalta.com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9986</TotalTime>
  <Words>841</Words>
  <Application>Microsoft Office PowerPoint</Application>
  <PresentationFormat>Widescreen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2026-08-27T15:14:58Z</dcterms:created>
  <dcterms:modified xsi:type="dcterms:W3CDTF">2026-09-04T10:32:36Z</dcterms:modified>
</cp:coreProperties>
</file>